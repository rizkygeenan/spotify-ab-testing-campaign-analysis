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Poppins"/>
      <p:regular r:id="rId16"/>
      <p:bold r:id="rId17"/>
      <p:italic r:id="rId18"/>
      <p:boldItalic r:id="rId19"/>
    </p:embeddedFont>
    <p:embeddedFont>
      <p:font typeface="Plus Jakarta Sans"/>
      <p:regular r:id="rId20"/>
      <p:bold r:id="rId21"/>
      <p:italic r:id="rId22"/>
      <p:boldItalic r:id="rId23"/>
    </p:embeddedFont>
    <p:embeddedFont>
      <p:font typeface="Plus Jakarta Sans SemiBold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regular.fntdata"/><Relationship Id="rId22" Type="http://schemas.openxmlformats.org/officeDocument/2006/relationships/font" Target="fonts/PlusJakartaSans-italic.fntdata"/><Relationship Id="rId21" Type="http://schemas.openxmlformats.org/officeDocument/2006/relationships/font" Target="fonts/PlusJakartaSans-bold.fntdata"/><Relationship Id="rId24" Type="http://schemas.openxmlformats.org/officeDocument/2006/relationships/font" Target="fonts/PlusJakartaSansSemiBold-regular.fntdata"/><Relationship Id="rId23" Type="http://schemas.openxmlformats.org/officeDocument/2006/relationships/font" Target="fonts/PlusJakarta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lusJakartaSansSemiBold-italic.fntdata"/><Relationship Id="rId25" Type="http://schemas.openxmlformats.org/officeDocument/2006/relationships/font" Target="fonts/PlusJakartaSansSemiBold-bold.fntdata"/><Relationship Id="rId27" Type="http://schemas.openxmlformats.org/officeDocument/2006/relationships/font" Target="fonts/PlusJakartaSans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oppins-bold.fntdata"/><Relationship Id="rId16" Type="http://schemas.openxmlformats.org/officeDocument/2006/relationships/font" Target="fonts/Poppins-regular.fntdata"/><Relationship Id="rId19" Type="http://schemas.openxmlformats.org/officeDocument/2006/relationships/font" Target="fonts/Poppins-boldItalic.fntdata"/><Relationship Id="rId18" Type="http://schemas.openxmlformats.org/officeDocument/2006/relationships/font" Target="fonts/Poppins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9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4.png"/><Relationship Id="rId7" Type="http://schemas.openxmlformats.org/officeDocument/2006/relationships/image" Target="../media/image1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9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1.png"/><Relationship Id="rId7" Type="http://schemas.openxmlformats.org/officeDocument/2006/relationships/image" Target="../media/image13.png"/><Relationship Id="rId8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23.png"/><Relationship Id="rId10" Type="http://schemas.openxmlformats.org/officeDocument/2006/relationships/image" Target="../media/image18.png"/><Relationship Id="rId13" Type="http://schemas.openxmlformats.org/officeDocument/2006/relationships/image" Target="../media/image29.png"/><Relationship Id="rId1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9" Type="http://schemas.openxmlformats.org/officeDocument/2006/relationships/image" Target="../media/image21.png"/><Relationship Id="rId15" Type="http://schemas.openxmlformats.org/officeDocument/2006/relationships/image" Target="../media/image27.png"/><Relationship Id="rId14" Type="http://schemas.openxmlformats.org/officeDocument/2006/relationships/image" Target="../media/image35.png"/><Relationship Id="rId16" Type="http://schemas.openxmlformats.org/officeDocument/2006/relationships/image" Target="../media/image26.png"/><Relationship Id="rId5" Type="http://schemas.openxmlformats.org/officeDocument/2006/relationships/image" Target="../media/image19.png"/><Relationship Id="rId6" Type="http://schemas.openxmlformats.org/officeDocument/2006/relationships/image" Target="../media/image16.png"/><Relationship Id="rId7" Type="http://schemas.openxmlformats.org/officeDocument/2006/relationships/image" Target="../media/image25.png"/><Relationship Id="rId8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2.png"/><Relationship Id="rId4" Type="http://schemas.openxmlformats.org/officeDocument/2006/relationships/image" Target="../media/image2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28.png"/><Relationship Id="rId8" Type="http://schemas.openxmlformats.org/officeDocument/2006/relationships/image" Target="../media/image3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3.png"/><Relationship Id="rId9" Type="http://schemas.openxmlformats.org/officeDocument/2006/relationships/image" Target="../media/image41.png"/><Relationship Id="rId5" Type="http://schemas.openxmlformats.org/officeDocument/2006/relationships/image" Target="../media/image38.png"/><Relationship Id="rId6" Type="http://schemas.openxmlformats.org/officeDocument/2006/relationships/image" Target="../media/image34.png"/><Relationship Id="rId7" Type="http://schemas.openxmlformats.org/officeDocument/2006/relationships/image" Target="../media/image39.png"/><Relationship Id="rId8" Type="http://schemas.openxmlformats.org/officeDocument/2006/relationships/image" Target="../media/image3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8526" y="2170807"/>
            <a:ext cx="2914798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897037" y="2704207"/>
            <a:ext cx="8397900" cy="12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A/B Test Evaluation:</a:t>
            </a:r>
            <a:b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7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Spotify Personalized Campaign</a:t>
            </a:r>
            <a:endParaRPr sz="1100"/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4077592"/>
            <a:ext cx="7620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Analisis Dampak Kampanye Promosi Terpersonalisasi Terhadap Payment Conversion Rate &amp; User Engagement</a:t>
            </a:r>
            <a:endParaRPr sz="1500"/>
          </a:p>
        </p:txBody>
      </p:sp>
      <p:pic>
        <p:nvPicPr>
          <p:cNvPr descr="image.png" id="88" name="Google Shape;8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19501" y="2266057"/>
            <a:ext cx="140047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599211" y="2512814"/>
            <a:ext cx="993576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DB95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BAGIAN 01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740271" y="2771775"/>
            <a:ext cx="6711307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Latar Belakang &amp; Masalah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5715000" y="3857625"/>
            <a:ext cx="762000" cy="3810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1133475" y="4086225"/>
            <a:ext cx="9925050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Evaluasi kendala pada kelompok Control dan inisiatif kampanye baru untuk mendorong konversi pengguna paket Free ke Premium.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99654"/>
            <a:ext cx="5353050" cy="16912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881437"/>
            <a:ext cx="5353050" cy="16912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67450" y="1976437"/>
            <a:ext cx="53530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847725" y="2275879"/>
            <a:ext cx="504063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67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rPr>
              <a:t>Masalah (Background Problem)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847725" y="2637829"/>
            <a:ext cx="4800600" cy="776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Tingkat konversi pembayaran pada kelompok Control masih rendah. Sebanyak </a:t>
            </a:r>
            <a:r>
              <a:rPr b="0" i="0" lang="en-US" sz="1275" u="none" cap="none" strike="noStrike">
                <a:solidFill>
                  <a:srgbClr val="F3F4F6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30.3% pengguna keluar (drop-off)</a:t>
            </a:r>
            <a:r>
              <a:rPr b="0" i="0" lang="en-US" sz="1275" u="none" cap="none" strike="noStrike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tanpa melakukan pembayaran atau berlangganan Premium.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47725" y="4157662"/>
            <a:ext cx="504063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67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DB954"/>
                </a:solidFill>
                <a:latin typeface="Poppins"/>
                <a:ea typeface="Poppins"/>
                <a:cs typeface="Poppins"/>
                <a:sym typeface="Poppins"/>
              </a:rPr>
              <a:t>Inisiatif Strategis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847725" y="4519612"/>
            <a:ext cx="4800600" cy="776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Mengevaluasi strategi kampanye tergeting pada pengguna paket Free melalui penawaran khusus dan rekomendasi konten untuk meningkatkan conversion rate dan durasi sesi.</a:t>
            </a:r>
            <a:endParaRPr/>
          </a:p>
        </p:txBody>
      </p:sp>
      <p:pic>
        <p:nvPicPr>
          <p:cNvPr descr="image.png" id="110" name="Google Shape;11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7725" y="2323504"/>
            <a:ext cx="186779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7725" y="4205287"/>
            <a:ext cx="186779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Latar Belakang &amp; Masalah Utama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571500" y="962025"/>
            <a:ext cx="5715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267450" y="2001825"/>
            <a:ext cx="5353050" cy="356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67260"/>
            <a:ext cx="5353050" cy="28378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7450" y="2237779"/>
            <a:ext cx="5353050" cy="30968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7725" y="264348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1323975" y="2676822"/>
            <a:ext cx="271596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Kondisi Saat Ini (Control)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1114425" y="3176885"/>
            <a:ext cx="4533900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Pengguna Free mendengarkan </a:t>
            </a:r>
            <a:r>
              <a:rPr b="0" i="0" lang="en-US" sz="1275" u="none" cap="none" strike="noStrike">
                <a:solidFill>
                  <a:srgbClr val="F3F4F6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iklan suara standar</a:t>
            </a:r>
            <a:r>
              <a:rPr b="0" i="0" lang="en-US" sz="1275" u="none" cap="none" strike="noStrike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secara berkala.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1114425" y="3847207"/>
            <a:ext cx="4533900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Menerima banner promosi umum tanpa penawaran khusus.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1114425" y="4258567"/>
            <a:ext cx="4533900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Tidak ada elemen personalisasi penawaran upgrade Premium.</a:t>
            </a:r>
            <a:endParaRPr/>
          </a:p>
        </p:txBody>
      </p:sp>
      <p:pic>
        <p:nvPicPr>
          <p:cNvPr descr="image.png" id="127" name="Google Shape;12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43675" y="2514004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7019925" y="2547342"/>
            <a:ext cx="364529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Variasi Baru (Target / Treatment)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810375" y="3047404"/>
            <a:ext cx="4533900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Tampilan </a:t>
            </a:r>
            <a:r>
              <a:rPr b="0" i="0" lang="en-US" sz="1275" u="none" cap="none" strike="noStrike">
                <a:solidFill>
                  <a:srgbClr val="F3F4F6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promosi khusus yang ditargetkan</a:t>
            </a:r>
            <a:r>
              <a:rPr b="0" i="0" lang="en-US" sz="1275" u="none" cap="none" strike="noStrike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secara personal.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810375" y="3717726"/>
            <a:ext cx="4533900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Penawaran diskon / uji coba gratis yang disesuaikan profil user.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810375" y="4388048"/>
            <a:ext cx="4533900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Rekomendasi konten relevan untuk menekan tingkat drop-off.</a:t>
            </a:r>
            <a:endParaRPr/>
          </a:p>
        </p:txBody>
      </p:sp>
      <p:pic>
        <p:nvPicPr>
          <p:cNvPr descr="image.png" id="132" name="Google Shape;13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025" y="275778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923925" y="3138785"/>
            <a:ext cx="1238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DB95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923925" y="3809107"/>
            <a:ext cx="1238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DB95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923925" y="4220467"/>
            <a:ext cx="1238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DB95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pic>
        <p:nvPicPr>
          <p:cNvPr descr="image.png" id="136" name="Google Shape;136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48450" y="2628304"/>
            <a:ext cx="171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6619875" y="3009304"/>
            <a:ext cx="1238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DB95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6619875" y="3679626"/>
            <a:ext cx="1238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DB95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6619875" y="4349948"/>
            <a:ext cx="1238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DB95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Identifikasi Perubahan Eksperimen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571500" y="962025"/>
            <a:ext cx="5715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78967"/>
            <a:ext cx="3530500" cy="36144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0600" y="1978967"/>
            <a:ext cx="3530649" cy="36144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89850" y="1978967"/>
            <a:ext cx="3530500" cy="36144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25875" y="4835872"/>
            <a:ext cx="1975693" cy="3479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85125" y="4835872"/>
            <a:ext cx="1519386" cy="3479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66775" y="2274242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866775" y="2979092"/>
            <a:ext cx="232232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Pernyataan Hipotesis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866775" y="3407717"/>
            <a:ext cx="2939950" cy="1553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Menerapkan kampanye promosi khusus &amp; rekomendasi personal akan mendorong lebih banyak pengguna Free beralih ke Premium karena penawaran relevan meningkatkan engagement.</a:t>
            </a:r>
            <a:endParaRPr/>
          </a:p>
        </p:txBody>
      </p:sp>
      <p:pic>
        <p:nvPicPr>
          <p:cNvPr descr="image.png" id="155" name="Google Shape;155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25875" y="2274242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4625875" y="2979092"/>
            <a:ext cx="163864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Success Metric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4625875" y="3407717"/>
            <a:ext cx="2940099" cy="1294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3F4F6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Payment Conversion Rate (CVR)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75" u="none" cap="none" strike="noStrike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Persentase pengguna yang melakukan pembayaran (Yes). Diharapkan CVR kelompok Target melampaui kelompok Control.</a:t>
            </a:r>
            <a:endParaRPr/>
          </a:p>
        </p:txBody>
      </p:sp>
      <p:pic>
        <p:nvPicPr>
          <p:cNvPr descr="image.png" id="158" name="Google Shape;158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385125" y="2274242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/>
        </p:nvSpPr>
        <p:spPr>
          <a:xfrm>
            <a:off x="8385125" y="2979100"/>
            <a:ext cx="2940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Guardrail Metric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8385125" y="3407717"/>
            <a:ext cx="2939950" cy="1294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3F4F6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Average Session Duration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75" u="none" cap="none" strike="noStrike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Rata-rata waktu mendengarkan (Duration Played). Memastikan peningkatan CVR tidak mengorbankan durasi sesi pengguna.</a:t>
            </a:r>
            <a:endParaRPr/>
          </a:p>
        </p:txBody>
      </p:sp>
      <p:pic>
        <p:nvPicPr>
          <p:cNvPr descr="image.png" id="161" name="Google Shape;161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42987" y="2426642"/>
            <a:ext cx="1619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763988" y="2426642"/>
            <a:ext cx="2381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778275" y="4959697"/>
            <a:ext cx="1708993" cy="1479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537525" y="2426642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537525" y="4950172"/>
            <a:ext cx="1252686" cy="15746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Kerangka Hipotesis &amp; Metrik</a:t>
            </a:r>
            <a:endParaRPr/>
          </a:p>
        </p:txBody>
      </p:sp>
      <p:sp>
        <p:nvSpPr>
          <p:cNvPr id="167" name="Google Shape;167;p17"/>
          <p:cNvSpPr/>
          <p:nvPr/>
        </p:nvSpPr>
        <p:spPr>
          <a:xfrm>
            <a:off x="571500" y="962025"/>
            <a:ext cx="5715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190625"/>
            <a:ext cx="11049000" cy="5191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Hasil Success Metric: Payment CVR</a:t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571500" y="962025"/>
            <a:ext cx="5715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190625"/>
            <a:ext cx="11049000" cy="519112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Hasil Guardrail Metric: Session Duration</a:t>
            </a: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571500" y="962025"/>
            <a:ext cx="5715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65562" y="-135938"/>
            <a:ext cx="12523126" cy="71298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65550" y="-135950"/>
            <a:ext cx="6452051" cy="71298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252662"/>
            <a:ext cx="5334000" cy="1323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729037"/>
            <a:ext cx="5334000" cy="155257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571500" y="1576387"/>
            <a:ext cx="56007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Ringkasan Eksperimen</a:t>
            </a:r>
            <a:endParaRPr/>
          </a:p>
        </p:txBody>
      </p:sp>
      <p:sp>
        <p:nvSpPr>
          <p:cNvPr id="193" name="Google Shape;193;p20"/>
          <p:cNvSpPr/>
          <p:nvPr/>
        </p:nvSpPr>
        <p:spPr>
          <a:xfrm>
            <a:off x="571500" y="2062162"/>
            <a:ext cx="5715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847725" y="2528887"/>
            <a:ext cx="502062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80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DB954"/>
                </a:solidFill>
                <a:latin typeface="Poppins"/>
                <a:ea typeface="Poppins"/>
                <a:cs typeface="Poppins"/>
                <a:sym typeface="Poppins"/>
              </a:rPr>
              <a:t>Success Metric Terbukti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847725" y="2843212"/>
            <a:ext cx="4781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Target CVR naik dari 69,7% menjadi 79,8%. Uji Z-test membuktikan statistik signifikan secara mutlak ($p = 0.0000$).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847725" y="4005262"/>
            <a:ext cx="502062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80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4D399"/>
                </a:solidFill>
                <a:latin typeface="Poppins"/>
                <a:ea typeface="Poppins"/>
                <a:cs typeface="Poppins"/>
                <a:sym typeface="Poppins"/>
              </a:rPr>
              <a:t>Guardrail Metric Melampaui Ekspektasi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847725" y="4319587"/>
            <a:ext cx="47815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Durasi mendengarkan naik dari 120,07 menit menjadi 159,91 menit. Kampanye ini tidak hanya menaikkan konversi tapi juga memperdalam engagement.</a:t>
            </a:r>
            <a:endParaRPr/>
          </a:p>
        </p:txBody>
      </p:sp>
      <p:pic>
        <p:nvPicPr>
          <p:cNvPr descr="image.png" id="198" name="Google Shape;198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7725" y="2576512"/>
            <a:ext cx="168026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7725" y="4052887"/>
            <a:ext cx="168026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4" name="Google Shape;20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58691"/>
            <a:ext cx="11049000" cy="16457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867941"/>
            <a:ext cx="5381625" cy="1962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1867941"/>
            <a:ext cx="5381625" cy="1962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14562" y="2220366"/>
            <a:ext cx="209550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81912" y="2220366"/>
            <a:ext cx="2495550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 txBox="1"/>
          <p:nvPr/>
        </p:nvSpPr>
        <p:spPr>
          <a:xfrm>
            <a:off x="847725" y="4334916"/>
            <a:ext cx="1102137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67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DB954"/>
                </a:solidFill>
                <a:latin typeface="Poppins"/>
                <a:ea typeface="Poppins"/>
                <a:cs typeface="Poppins"/>
                <a:sym typeface="Poppins"/>
              </a:rPr>
              <a:t>Rekomendasi Keputusan (Full Rollout)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847725" y="4696866"/>
            <a:ext cx="104965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Karena kampanye berorientasi target ini terbukti secara </a:t>
            </a:r>
            <a:r>
              <a:rPr b="0" i="0" lang="en-US" sz="1200" u="none" cap="none" strike="noStrike">
                <a:solidFill>
                  <a:srgbClr val="F3F4F6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signifikan meningkatkan konversi pembayaran sekaligus memperlama durasi sesi pengguna</a:t>
            </a:r>
            <a:r>
              <a:rPr b="0" i="0" lang="en-US" sz="1200" u="none" cap="none" strike="noStrike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tanpa dampak negatif, direkomendasikan untuk meluncurkan </a:t>
            </a:r>
            <a:r>
              <a:rPr b="0" i="1" lang="en-US" sz="1200" u="none" cap="none" strike="noStrike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(roll out)</a:t>
            </a:r>
            <a:r>
              <a:rPr b="0" i="0" lang="en-US" sz="1200" u="none" cap="none" strike="noStrike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strategi kampanye terpersonalisasi ini ke </a:t>
            </a:r>
            <a:r>
              <a:rPr b="0" i="0" lang="en-US" sz="1200" u="none" cap="none" strike="noStrike">
                <a:solidFill>
                  <a:srgbClr val="F3F4F6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100% pengguna paket Free Spotify.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1852612" y="2982366"/>
            <a:ext cx="28194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Peningkatan CVR Pembayaran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1400175" y="3296691"/>
            <a:ext cx="37242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Kenaikan konversi dari 69.7% ke 79.8% (1010 bps uplift)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7510462" y="2982366"/>
            <a:ext cx="28384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Pertambahan Session Duration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6815137" y="3296691"/>
            <a:ext cx="42291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Rata-rata waktu mendengarkan naik dari 120.07 m ke 159.91 m</a:t>
            </a:r>
            <a:endParaRPr/>
          </a:p>
        </p:txBody>
      </p:sp>
      <p:pic>
        <p:nvPicPr>
          <p:cNvPr descr="image.png" id="216" name="Google Shape;216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7725" y="4382541"/>
            <a:ext cx="186779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Rekomendasi Bisnis &amp; Rollout</a:t>
            </a:r>
            <a:endParaRPr/>
          </a:p>
        </p:txBody>
      </p:sp>
      <p:sp>
        <p:nvSpPr>
          <p:cNvPr id="218" name="Google Shape;218;p21"/>
          <p:cNvSpPr/>
          <p:nvPr/>
        </p:nvSpPr>
        <p:spPr>
          <a:xfrm>
            <a:off x="571500" y="962025"/>
            <a:ext cx="5715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3" name="Google Shape;22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88706" y="2175569"/>
            <a:ext cx="2414587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2"/>
          <p:cNvSpPr txBox="1"/>
          <p:nvPr/>
        </p:nvSpPr>
        <p:spPr>
          <a:xfrm>
            <a:off x="3311589" y="2632769"/>
            <a:ext cx="5568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Terima Kasih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4443412" y="3690044"/>
            <a:ext cx="330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Muhammad Rizky Ginanjar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